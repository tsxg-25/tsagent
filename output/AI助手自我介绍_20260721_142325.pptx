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DD6F4"/>
                </a:solidFill>
                <a:latin typeface="Microsoft YaHei"/>
              </a:defRPr>
            </a:pPr>
            <a:r>
              <a:t>AI助手自我介绍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6ADC8"/>
                </a:solidFill>
                <a:latin typeface="Microsoft YaHei"/>
              </a:defRPr>
            </a:pPr>
            <a:r>
              <a:t>生成时间: 2026-07-21 14:23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548640" cy="548640"/>
          </a:xfrm>
          <a:prstGeom prst="round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1E1E2E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DD6F4"/>
                </a:solidFill>
                <a:latin typeface="Microsoft YaHei"/>
              </a:defRPr>
            </a:pPr>
            <a:r>
              <a:t>关于我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515600" cy="45720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254191314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9B4FA"/>
                </a:solidFill>
                <a:latin typeface="Microsoft YaHei"/>
              </a:defRPr>
            </a:pPr>
            <a:r>
              <a:t>▎ 详细内容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2541919544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6ADC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6ADC8"/>
                </a:solidFill>
                <a:latin typeface="Microsoft YaHei"/>
              </a:defRPr>
            </a:pPr>
            <a:r>
              <a:t>我是一个智能AI助手</a:t>
            </a:r>
          </a:p>
          <a:p>
            <a:pPr>
              <a:spcAft>
                <a:spcPts val="600"/>
              </a:spcAft>
              <a:defRPr sz="1600">
                <a:solidFill>
                  <a:srgbClr val="A6ADC8"/>
                </a:solidFill>
                <a:latin typeface="Microsoft YaHei"/>
              </a:defRPr>
            </a:pPr>
            <a:r>
              <a:t>基于先进的语言模型</a:t>
            </a:r>
          </a:p>
          <a:p>
            <a:pPr>
              <a:spcAft>
                <a:spcPts val="600"/>
              </a:spcAft>
              <a:defRPr sz="1600">
                <a:solidFill>
                  <a:srgbClr val="A6ADC8"/>
                </a:solidFill>
                <a:latin typeface="Microsoft YaHei"/>
              </a:defRPr>
            </a:pPr>
            <a:r>
              <a:t>可以帮助您完成各种任务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548640" cy="548640"/>
          </a:xfrm>
          <a:prstGeom prst="round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1E1E2E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DD6F4"/>
                </a:solidFill>
                <a:latin typeface="Microsoft YaHei"/>
              </a:defRPr>
            </a:pPr>
            <a:r>
              <a:t>我的能力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515600" cy="45720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254191314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9B4FA"/>
                </a:solidFill>
                <a:latin typeface="Microsoft YaHei"/>
              </a:defRPr>
            </a:pPr>
            <a:r>
              <a:t>▎ 详细内容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2541919544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6ADC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6ADC8"/>
                </a:solidFill>
                <a:latin typeface="Microsoft YaHei"/>
              </a:defRPr>
            </a:pPr>
            <a:r>
              <a:t>文本生成与创作</a:t>
            </a:r>
          </a:p>
          <a:p>
            <a:pPr>
              <a:spcAft>
                <a:spcPts val="600"/>
              </a:spcAft>
              <a:defRPr sz="1600">
                <a:solidFill>
                  <a:srgbClr val="A6ADC8"/>
                </a:solidFill>
                <a:latin typeface="Microsoft YaHei"/>
              </a:defRPr>
            </a:pPr>
            <a:r>
              <a:t>代码编写与调试</a:t>
            </a:r>
          </a:p>
          <a:p>
            <a:pPr>
              <a:spcAft>
                <a:spcPts val="600"/>
              </a:spcAft>
              <a:defRPr sz="1600">
                <a:solidFill>
                  <a:srgbClr val="A6ADC8"/>
                </a:solidFill>
                <a:latin typeface="Microsoft YaHei"/>
              </a:defRPr>
            </a:pPr>
            <a:r>
              <a:t>数据分析与总结</a:t>
            </a:r>
          </a:p>
          <a:p>
            <a:pPr>
              <a:spcAft>
                <a:spcPts val="600"/>
              </a:spcAft>
              <a:defRPr sz="1600">
                <a:solidFill>
                  <a:srgbClr val="A6ADC8"/>
                </a:solidFill>
                <a:latin typeface="Microsoft YaHei"/>
              </a:defRPr>
            </a:pPr>
            <a:r>
              <a:t>信息检索与研究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548640" cy="548640"/>
          </a:xfrm>
          <a:prstGeom prst="round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1E1E2E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DD6F4"/>
                </a:solidFill>
                <a:latin typeface="Microsoft YaHei"/>
              </a:defRPr>
            </a:pPr>
            <a:r>
              <a:t>使用方式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515600" cy="4572000"/>
          </a:xfrm>
          <a:prstGeom prst="round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254191314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9B4FA"/>
                </a:solidFill>
                <a:latin typeface="Microsoft YaHei"/>
              </a:defRPr>
            </a:pPr>
            <a:r>
              <a:t>▎ 详细内容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2541919544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6ADC8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A6ADC8"/>
                </a:solidFill>
                <a:latin typeface="Microsoft YaHei"/>
              </a:defRPr>
            </a:pPr>
            <a:r>
              <a:t>通过自然语言对话</a:t>
            </a:r>
          </a:p>
          <a:p>
            <a:pPr>
              <a:spcAft>
                <a:spcPts val="600"/>
              </a:spcAft>
              <a:defRPr sz="1600">
                <a:solidFill>
                  <a:srgbClr val="A6ADC8"/>
                </a:solidFill>
                <a:latin typeface="Microsoft YaHei"/>
              </a:defRPr>
            </a:pPr>
            <a:r>
              <a:t>支持多种工具调用</a:t>
            </a:r>
          </a:p>
          <a:p>
            <a:pPr>
              <a:spcAft>
                <a:spcPts val="600"/>
              </a:spcAft>
              <a:defRPr sz="1600">
                <a:solidFill>
                  <a:srgbClr val="A6ADC8"/>
                </a:solidFill>
                <a:latin typeface="Microsoft YaHei"/>
              </a:defRPr>
            </a:pPr>
            <a:r>
              <a:t>持续学习与进化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